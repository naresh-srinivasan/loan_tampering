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4" name="Shape 2"/>
          <p:cNvSpPr/>
          <p:nvPr/>
        </p:nvSpPr>
        <p:spPr>
          <a:xfrm>
            <a:off x="4178808" y="502920"/>
            <a:ext cx="3840480" cy="384048"/>
          </a:xfrm>
          <a:prstGeom prst="roundRect">
            <a:avLst>
              <a:gd name="adj" fmla="val 19048"/>
            </a:avLst>
          </a:prstGeom>
          <a:solidFill>
            <a:srgbClr val="C9A2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178808" y="5029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PHASE II  –  SECOND REVIEW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32704" y="1097280"/>
            <a:ext cx="914400" cy="9144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120700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2240280"/>
            <a:ext cx="103601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AI-DRIVEN LOAN UNDERWRITING</a:t>
            </a:r>
            <a:endParaRPr lang="en-US" sz="27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DOCUMENT FRAUD DETECTION SYSTEM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2976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Naresh S  |  Roll No: 2436MCA0047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5806440"/>
            <a:ext cx="10360152" cy="0"/>
          </a:xfrm>
          <a:prstGeom prst="line">
            <a:avLst/>
          </a:prstGeom>
          <a:noFill/>
          <a:ln w="12700">
            <a:solidFill>
              <a:srgbClr val="3A469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5989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No: 67224200080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062472" y="5897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R. Baskaran, Professor</a:t>
            </a:r>
            <a:endParaRPr lang="en-US" sz="12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CSE, CEG Campus, Anna University, Chennai - 25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System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424160" y="36576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4861" y="486461"/>
            <a:ext cx="764438" cy="7644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78308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architecture as proposed in the First Review: Next.js 14 presentation tier, a Node.js / Express API gateway, and a Python FastAPI AI &amp; Forensics microservice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Gateway: JWT authentication, role-based access control, magic-byte file validation, asynchronous job dispatch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Forensics service: PDF metadata/font inspection, Error Level Analysis, ledger extraction and reconciliation, XGBoost credit scoring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analysis now runs fully asynchronously - an upload is acknowledged immediately and the pipeline result is written back and reflected in the UI once ready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Master-detail sidebar layout so both applicant and officer move through applications without returning to a separate list page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516636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5F8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533095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562356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matches the three-tier design proposed in the First Review end-to-end - this slide reports what was actually built, not what was planned.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Review – Automated AI-Driven Loan Underwriting &amp; Document Fraud Detection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424160" y="36576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4861" y="486461"/>
            <a:ext cx="764438" cy="7644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78308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Credit-risk model trained on the public “Give Me Some Credit” dataset (~150,000 borrower records)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used: age, MonthlyIncome, DebtRatio, RevolvingUtilization, NumberOfDependents and delinquency counts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classifier achieves AUC-ROC ≈ 0.87 on the held-out test split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synthetic sample bank-statement PDFs generated (clean / tampered / photoshopped) to exercise the forensics pipeline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password-encrypted variant to test the password-protected-PDF upload path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516636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5F8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533095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562356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documents, three outcomes: clean, tampered and fraud-fingerprinted statements each drive the pipeline to a different, verifiable decision.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Review – Automated AI-Driven Loan Underwriting &amp; Document Fraud Detection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Completed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424160" y="36576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4861" y="486461"/>
            <a:ext cx="764438" cy="764438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017520"/>
                <a:gridCol w="752551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Ingestion Gateway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authentication, role-based access control, magic-byte / MIME 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&amp; Document Intake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 apply + upload form, password-protected PDF retry 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/ Metadata Forensics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PyMuPDF traversal of /Producer, /Creator, /ModDate tags and font dictionaries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Level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Six-stage ELA pipeline rendering a visual tamper heatmap for the officer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Ledger Extraction &amp; Reconciliation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pdfplumber + OpenCV/Tesseract fallback; zero-drift decimal balance 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Solvency Metrics &amp; Credit Risk Scoring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DTI and AMB calculation plus the XGBoost risk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Routing Engine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tri-state matrix: AUTO_APPROVE / MANUAL_REVIEW / REJECT / FRAUD_ALERT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Officer Review &amp; Human-in-the-Loop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Split-screen workspace, ledger table, mandatory “Confirm &amp; Approve” 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Logging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WORM audit trail with SHA-256 evidence hashing of every check and decision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989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nine modules from the Week 1–8 work plan are functionally complete and tested end-to-end - no pseudocode is required for this review.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Review – Automated AI-Driven Loan Underwriting &amp; Document Fraud Detection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424160" y="36576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4861" y="486461"/>
            <a:ext cx="764438" cy="764438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480560"/>
                <a:gridCol w="38679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exercises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sample_clean.pdf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Internally consistent ledger; no editing-tool metadata fingerprint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AUTO_APPROVE (officer confirms)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sample_tampered.pdf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balance cell altered - breaks the running-balance reconciliation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MANUAL_REVIEW (ledger math)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sample_photoshopped.pdf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Ledger consistent, but /Producer metadata reads “Adobe Photoshop”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REJECT_FRAUD_ALERT (structural)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Password-encrypted PDF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with no / wrong password, then correct password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PASSWORD_REQUIRED, then succeeds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Scanned (image-only) statement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pdfplumber fails → OpenCV-grid + Tesseract OCR fallback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Routed to MANUAL_REVIEW if unreadable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5778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verification: Playwright browser smoke tests for both the applicant and officer flows, run against the live application - a live timing check confirmed uploads return in well under 100ms.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Review – Automated AI-Driven Loan Underwriting &amp; Document Fraud Detection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ENGINEERING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Deviation If Any and Justification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424160" y="36576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4861" y="486461"/>
            <a:ext cx="764438" cy="7644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78308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MySQL was proposed; SQLite is used instead - no concurrent-write need yet at single-user prototype scale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gating: the First Review's decision framework treats ELA as auto-reject evidence; it stays diagnostic-only here, since it false-positives on clean scans - only metadata + ledger math auto-gate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Credit-risk training data: the public Kaggle dataset is used, not real underwriting outcomes - no proprietary lending data exists at the prototype stage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 forensic/financial/risk results are flat typed columns, not the JSON sub-documents in the original ER diagram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OCR coverage: tuned to the three generated sample documents, not arbitrary real bank statement layouts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516636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5F8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533095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562356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deviation above is deliberate and documented, with its reasoning stated up front - that is what makes it an engineering decision rather than an inconsistency.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Review – Automated AI-Driven Loan Underwriting &amp; Document Fraud Detection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Live, Not Just Described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in this review was exercised against the running application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5F8FF"/>
          </a:solidFill>
          <a:ln/>
          <a:effectLst>
            <a:outerShdw sx="100000" sy="100000" kx="0" ky="0" algn="bl" rotWithShape="0" blurRad="63500" dist="25400" dir="5400000">
              <a:srgbClr val="9AA7C7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22402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&lt;50ms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request acknowledgement, measured consistently across trials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15968" y="192024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5F8FF"/>
          </a:solidFill>
          <a:ln/>
          <a:effectLst>
            <a:outerShdw sx="100000" sy="100000" kx="0" ky="0" algn="bl" rotWithShape="0" blurRad="63500" dist="25400" dir="5400000">
              <a:srgbClr val="9AA7C7">
                <a:alpha val="3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315968" y="22402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3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4590288" y="3200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branches (approve / manual review / fraud alert) verified live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74152" y="192024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5F8FF"/>
          </a:solidFill>
          <a:ln/>
          <a:effectLst>
            <a:outerShdw sx="100000" sy="100000" kx="0" ky="0" algn="bl" rotWithShape="0" blurRad="63500" dist="25400" dir="5400000">
              <a:srgbClr val="9AA7C7">
                <a:alpha val="3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074152" y="22402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33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8348472" y="3200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AUC-ROC on the held-out validation split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3434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 registering real users, submitting real applications through the HTTP API, and polling for results - the same path the application itself uses, not a mocked UI state.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11091672" cy="0"/>
          </a:xfrm>
          <a:prstGeom prst="line">
            <a:avLst/>
          </a:prstGeom>
          <a:noFill/>
          <a:ln w="12700">
            <a:solidFill>
              <a:srgbClr val="E3E7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349240"/>
            <a:ext cx="292608" cy="292608"/>
          </a:xfrm>
          <a:prstGeom prst="ellipse">
            <a:avLst/>
          </a:prstGeom>
          <a:solidFill>
            <a:srgbClr val="E9F3E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349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5349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flow: register → apply → upload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315968" y="5349240"/>
            <a:ext cx="292608" cy="292608"/>
          </a:xfrm>
          <a:prstGeom prst="ellipse">
            <a:avLst/>
          </a:prstGeom>
          <a:solidFill>
            <a:srgbClr val="E9F3E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315968" y="5349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700016" y="5349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flow: queue → review → confirm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074152" y="5349240"/>
            <a:ext cx="292608" cy="292608"/>
          </a:xfrm>
          <a:prstGeom prst="ellipse">
            <a:avLst/>
          </a:prstGeom>
          <a:solidFill>
            <a:srgbClr val="E9F3E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74152" y="5349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458200" y="5349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decision branches reached live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Review – Automated AI-Driven Loan Underwriting &amp; Document Fraud Detection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4" name="Shape 2"/>
          <p:cNvSpPr/>
          <p:nvPr/>
        </p:nvSpPr>
        <p:spPr>
          <a:xfrm>
            <a:off x="5404104" y="1828800"/>
            <a:ext cx="1371600" cy="13716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8696" y="1993392"/>
            <a:ext cx="1042416" cy="10424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429000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443484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718304" y="5257800"/>
            <a:ext cx="2743200" cy="0"/>
          </a:xfrm>
          <a:prstGeom prst="line">
            <a:avLst/>
          </a:prstGeom>
          <a:noFill/>
          <a:ln w="12700">
            <a:solidFill>
              <a:srgbClr val="3A469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544068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Naresh S  |  Roll No: 2436MCA0047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Review – Automated AI-Driven Loan Underwriting &amp; Document Fraud Detection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2026-10-23T17:07:26Z</dcterms:created>
  <dcterms:modified xsi:type="dcterms:W3CDTF">2026-10-23T17:07:26Z</dcterms:modified>
</cp:coreProperties>
</file>