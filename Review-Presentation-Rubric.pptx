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114800" cy="4114800"/>
          </a:xfrm>
          <a:prstGeom prst="ellipse">
            <a:avLst/>
          </a:prstGeom>
          <a:solidFill>
            <a:srgbClr val="141B45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5120640"/>
            <a:ext cx="3291840" cy="3291840"/>
          </a:xfrm>
          <a:prstGeom prst="ellipse">
            <a:avLst/>
          </a:prstGeom>
          <a:solidFill>
            <a:srgbClr val="141B45"/>
          </a:solidFill>
          <a:ln/>
        </p:spPr>
      </p:sp>
      <p:sp>
        <p:nvSpPr>
          <p:cNvPr id="4" name="Shape 2"/>
          <p:cNvSpPr/>
          <p:nvPr/>
        </p:nvSpPr>
        <p:spPr>
          <a:xfrm>
            <a:off x="4498848" y="502920"/>
            <a:ext cx="3200400" cy="384048"/>
          </a:xfrm>
          <a:prstGeom prst="roundRect">
            <a:avLst>
              <a:gd name="adj" fmla="val 19048"/>
            </a:avLst>
          </a:prstGeom>
          <a:solidFill>
            <a:srgbClr val="C9A22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498848" y="5029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PHASE I  –  FIRST REVIEW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32704" y="1097280"/>
            <a:ext cx="914400" cy="9144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1207008"/>
            <a:ext cx="694944" cy="6949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2240280"/>
            <a:ext cx="103601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AI-DRIVEN LOAN UNDERWRITING</a:t>
            </a:r>
            <a:endParaRPr lang="en-US" sz="27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DOCUMENT FRAUD DETECTION SYSTEM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Naresh S  |  Roll No: 2436MCA0047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914400" y="5806440"/>
            <a:ext cx="10360152" cy="0"/>
          </a:xfrm>
          <a:prstGeom prst="line">
            <a:avLst/>
          </a:prstGeom>
          <a:noFill/>
          <a:ln w="12700">
            <a:solidFill>
              <a:srgbClr val="3A469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5989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No: 67224200080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062472" y="5897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 Dr. R. Baskaran, Professor</a:t>
            </a:r>
            <a:endParaRPr lang="en-US" sz="12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CSE, CEG Campus, Anna University, Chennai - 25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SECTION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Definition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manual, single-purpose loan underwriting no longer holds up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537192" y="384048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537192" y="3840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MARKS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566160" cy="2331720"/>
          </a:xfrm>
          <a:prstGeom prst="roundRect">
            <a:avLst>
              <a:gd name="adj" fmla="val 4706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2042770"/>
            <a:ext cx="486461" cy="48646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77240" y="2697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Slow, manual review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2461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visually eyeball bank statements &amp; salary slips line by line – slow, and it does not scale.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15968" y="1737360"/>
            <a:ext cx="3566160" cy="2331720"/>
          </a:xfrm>
          <a:prstGeom prst="roundRect">
            <a:avLst>
              <a:gd name="adj" fmla="val 4706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90288" y="1965960"/>
            <a:ext cx="640080" cy="64008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2042770"/>
            <a:ext cx="486461" cy="486461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44568" y="2697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Undetectable tampering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4544568" y="32461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Forged or Photoshopped documents can pass manual review – humans can't spot pixel- or metadata-level edits.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074152" y="1737360"/>
            <a:ext cx="3566160" cy="2331720"/>
          </a:xfrm>
          <a:prstGeom prst="roundRect">
            <a:avLst>
              <a:gd name="adj" fmla="val 4706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48472" y="1965960"/>
            <a:ext cx="640080" cy="640080"/>
          </a:xfrm>
          <a:prstGeom prst="ellipse">
            <a:avLst/>
          </a:prstGeom>
          <a:solidFill>
            <a:srgbClr val="B3392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2042770"/>
            <a:ext cx="486461" cy="486461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02752" y="2697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vs. scoring, not both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8302752" y="32461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systems do EITHER fraud detection OR credit scoring – rarely both, and rarely with a verifiable audit trail.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48640" y="4343400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68680" y="44988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PROBLEM STATEMENT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868680" y="48006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 has no reliable way to catch digitally edited financial documents, and there is no deterministic proof that an approval decision was ever safe.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SECTION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of the Proposed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concrete, verifiable objectives driving the system design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537192" y="384048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537192" y="3840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MARKS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7335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 document tampering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002536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detect tampering via structural &amp; metadata forensics on the uploaded PDF.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478024"/>
            <a:ext cx="10835640" cy="0"/>
          </a:xfrm>
          <a:prstGeom prst="line">
            <a:avLst/>
          </a:prstGeom>
          <a:noFill/>
          <a:ln w="12700">
            <a:solidFill>
              <a:srgbClr val="E3E9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633472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633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569464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financial consistency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89864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verify financial consistency through row-by-row ledger reconciliation.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374136"/>
            <a:ext cx="10835640" cy="0"/>
          </a:xfrm>
          <a:prstGeom prst="line">
            <a:avLst/>
          </a:prstGeom>
          <a:noFill/>
          <a:ln w="12700">
            <a:solidFill>
              <a:srgbClr val="E3E9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529584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465576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credit risk with ML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379476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score credit risk using a trained XGBoost model.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270248"/>
            <a:ext cx="10835640" cy="0"/>
          </a:xfrm>
          <a:prstGeom prst="line">
            <a:avLst/>
          </a:prstGeom>
          <a:noFill/>
          <a:ln w="12700">
            <a:solidFill>
              <a:srgbClr val="E3E9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425696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4256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4361688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 to a clear decision</a:t>
            </a:r>
            <a:endParaRPr lang="en-US" sz="155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4690872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every application to AUTO_APPROVE / MANUAL_REVIEW / REJECT / REJECT_FRAUD_ALERT, with a human officer as final approver.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166360"/>
            <a:ext cx="10835640" cy="0"/>
          </a:xfrm>
          <a:prstGeom prst="line">
            <a:avLst/>
          </a:prstGeom>
          <a:noFill/>
          <a:ln w="12700">
            <a:solidFill>
              <a:srgbClr val="E3E9F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5321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234440" y="525780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Maintain a tamper-proof trail</a:t>
            </a:r>
            <a:endParaRPr lang="en-US" sz="1550" dirty="0"/>
          </a:p>
        </p:txBody>
      </p:sp>
      <p:sp>
        <p:nvSpPr>
          <p:cNvPr id="30" name="Text 28"/>
          <p:cNvSpPr txBox="1"/>
          <p:nvPr/>
        </p:nvSpPr>
        <p:spPr>
          <a:xfrm>
            <a:off x="1234440" y="5586984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an immutable, tamper-proof audit trail of every automated and human decision.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SECTION 2  –  SCOPE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of the Proposed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Phase I explicitly covers – and what it deliberately leaves out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537192" y="384048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537192" y="3840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MARKS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3611880"/>
          </a:xfrm>
          <a:prstGeom prst="roundRect">
            <a:avLst>
              <a:gd name="adj" fmla="val 3038"/>
            </a:avLst>
          </a:prstGeom>
          <a:solidFill>
            <a:srgbClr val="F5F8FF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19659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48256"/>
            <a:ext cx="521208" cy="5212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783080" y="20116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Scope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2880360"/>
            <a:ext cx="4617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bank statements – both digital and scanned</a:t>
            </a:r>
            <a:endParaRPr lang="en-US" sz="1350" dirty="0"/>
          </a:p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roles: Applicant and Loan Officer</a:t>
            </a:r>
            <a:endParaRPr lang="en-US" sz="1350" dirty="0"/>
          </a:p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Single-user, local deployment for evaluation</a:t>
            </a:r>
            <a:endParaRPr lang="en-US" sz="1350" dirty="0"/>
          </a:p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architecture: web frontend, API gateway, forensics/ML service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291072" y="1691640"/>
            <a:ext cx="5349240" cy="3611880"/>
          </a:xfrm>
          <a:prstGeom prst="roundRect">
            <a:avLst>
              <a:gd name="adj" fmla="val 3038"/>
            </a:avLst>
          </a:prstGeom>
          <a:solidFill>
            <a:srgbClr val="F5F8FF"/>
          </a:solidFill>
          <a:ln/>
        </p:spPr>
      </p:sp>
      <p:sp>
        <p:nvSpPr>
          <p:cNvPr id="13" name="Shape 10"/>
          <p:cNvSpPr/>
          <p:nvPr/>
        </p:nvSpPr>
        <p:spPr>
          <a:xfrm>
            <a:off x="6611112" y="1965960"/>
            <a:ext cx="685800" cy="685800"/>
          </a:xfrm>
          <a:prstGeom prst="ellipse">
            <a:avLst/>
          </a:prstGeom>
          <a:solidFill>
            <a:srgbClr val="B3392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48256"/>
            <a:ext cx="521208" cy="5212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525512" y="20116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 of Scope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6656832" y="2880360"/>
            <a:ext cx="4617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Production-scale, multi-tenant deployment</a:t>
            </a:r>
            <a:endParaRPr lang="en-US" sz="1350" dirty="0"/>
          </a:p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Multi-bank / multi-institution integration</a:t>
            </a:r>
            <a:endParaRPr lang="en-US" sz="1350" dirty="0"/>
          </a:p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Non-PDF document formats</a:t>
            </a:r>
            <a:endParaRPr lang="en-US" sz="1350" dirty="0"/>
          </a:p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underwriting outcome data – uses the public Kaggle “Give Me Some Credit” dataset instead</a:t>
            </a:r>
            <a:endParaRPr lang="en-US" sz="1350" dirty="0"/>
          </a:p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scaling / message-queue infrastructure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columns scope the system to what a single-review evaluation needs to demonstrate – not a production rollout.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SECTION 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Novel Idea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537192" y="384048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537192" y="3840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MARKS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344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Certainty-Tiered Decision Routing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830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fraud-detection tools rely purely on an ML image classifier to guess whether a document was edited – inherently probabilistic, and prone to false positives. This system instead separates checks by how certain they can ever be.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5349240" cy="3429000"/>
          </a:xfrm>
          <a:prstGeom prst="roundRect">
            <a:avLst>
              <a:gd name="adj" fmla="val 3200"/>
            </a:avLst>
          </a:prstGeom>
          <a:solidFill>
            <a:srgbClr val="F5F8FF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297180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3054096"/>
            <a:ext cx="521208" cy="52120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783080" y="30175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– allowed to auto-flag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84048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metadata: /Producer &amp; /Creator tags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Font-family consistency across the page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arithmetic (running balance check)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914400" y="5257800"/>
            <a:ext cx="4617720" cy="0"/>
          </a:xfrm>
          <a:prstGeom prst="line">
            <a:avLst/>
          </a:prstGeom>
          <a:noFill/>
          <a:ln w="12700">
            <a:solidFill>
              <a:srgbClr val="DCE3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544068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 → same output, every time – so it's trusted to decide.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91072" y="2697480"/>
            <a:ext cx="5349240" cy="3429000"/>
          </a:xfrm>
          <a:prstGeom prst="roundRect">
            <a:avLst>
              <a:gd name="adj" fmla="val 3200"/>
            </a:avLst>
          </a:prstGeom>
          <a:solidFill>
            <a:srgbClr val="F5F8F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11112" y="2971800"/>
            <a:ext cx="685800" cy="6858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3054096"/>
            <a:ext cx="521208" cy="52120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525512" y="30175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Probabilistic – advisory only</a:t>
            </a:r>
            <a:endParaRPr lang="en-US" sz="1550" dirty="0"/>
          </a:p>
        </p:txBody>
      </p:sp>
      <p:sp>
        <p:nvSpPr>
          <p:cNvPr id="19" name="Text 15"/>
          <p:cNvSpPr txBox="1"/>
          <p:nvPr/>
        </p:nvSpPr>
        <p:spPr>
          <a:xfrm>
            <a:off x="6656832" y="384048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Level Analysis (ELA) heatmap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credit score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treated as decisive on its own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6656832" y="5257800"/>
            <a:ext cx="4617720" cy="0"/>
          </a:xfrm>
          <a:prstGeom prst="line">
            <a:avLst/>
          </a:prstGeom>
          <a:noFill/>
          <a:ln w="12700">
            <a:solidFill>
              <a:srgbClr val="DCE3F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656832" y="544068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to the officer as evidence – never auto-decisive.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SECTION 4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Design – System Architecture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pipeline: concerns separated, each tier independently testable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537192" y="384048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537192" y="3840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MARKS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371600" y="1600200"/>
            <a:ext cx="9418320" cy="96012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45920" y="1691640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– Next.js 14 / React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2029968"/>
            <a:ext cx="886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portal &amp; officer console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19456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+ upload form    •    Officer review workspace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10800000">
            <a:off x="5852160" y="2615184"/>
            <a:ext cx="274320" cy="256032"/>
          </a:xfrm>
          <a:prstGeom prst="rtTriangle">
            <a:avLst/>
          </a:prstGeom>
          <a:solidFill>
            <a:srgbClr val="5B6B8C"/>
          </a:solidFill>
          <a:ln/>
        </p:spPr>
      </p:sp>
      <p:sp>
        <p:nvSpPr>
          <p:cNvPr id="12" name="Shape 10"/>
          <p:cNvSpPr/>
          <p:nvPr/>
        </p:nvSpPr>
        <p:spPr>
          <a:xfrm>
            <a:off x="1371600" y="2926080"/>
            <a:ext cx="9418320" cy="960120"/>
          </a:xfrm>
          <a:prstGeom prst="roundRect">
            <a:avLst>
              <a:gd name="adj" fmla="val 9524"/>
            </a:avLst>
          </a:prstGeom>
          <a:solidFill>
            <a:srgbClr val="2B3A8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645920" y="3017520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Gateway – Node.js / Express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355848"/>
            <a:ext cx="886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persistence &amp; business rules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352044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&amp; role-based access    •    Magic-byte validation    •    SQLite persistence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 rot="10800000">
            <a:off x="5852160" y="3941064"/>
            <a:ext cx="274320" cy="256032"/>
          </a:xfrm>
          <a:prstGeom prst="rtTriangle">
            <a:avLst/>
          </a:prstGeom>
          <a:solidFill>
            <a:srgbClr val="5B6B8C"/>
          </a:solidFill>
          <a:ln/>
        </p:spPr>
      </p:sp>
      <p:sp>
        <p:nvSpPr>
          <p:cNvPr id="17" name="Shape 15"/>
          <p:cNvSpPr/>
          <p:nvPr/>
        </p:nvSpPr>
        <p:spPr>
          <a:xfrm>
            <a:off x="1371600" y="4251960"/>
            <a:ext cx="4572000" cy="1417320"/>
          </a:xfrm>
          <a:prstGeom prst="roundRect">
            <a:avLst>
              <a:gd name="adj" fmla="val 6452"/>
            </a:avLst>
          </a:prstGeom>
          <a:solidFill>
            <a:srgbClr val="C9A22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572768" y="4343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Forensics &amp; ML Service – Python / FastAPI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48920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0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forensics + ELA</a:t>
            </a:r>
            <a:endParaRPr lang="en-US" sz="100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0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extraction &amp; reconciliation</a:t>
            </a:r>
            <a:endParaRPr lang="en-US" sz="100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0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credit scoring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0" y="4251960"/>
            <a:ext cx="4572000" cy="1417320"/>
          </a:xfrm>
          <a:prstGeom prst="roundRect">
            <a:avLst>
              <a:gd name="adj" fmla="val 6452"/>
            </a:avLst>
          </a:prstGeom>
          <a:solidFill>
            <a:srgbClr val="CADCF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19088" y="4343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Persistence – SQLite (5 tables)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468172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applications · documents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ledger_line_items · audit_logs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897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split this way: the gateway owns identity, authorization and persistence; the Python service owns pure computation (OCR, forensics, ML) – each independently developable and testable.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SECTION 4  –  DATA FLOW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Design – End-to-End Data Flow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application, from upload to officer confirmation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691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70992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uploads a loan application + supporting PDF document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8096" y="2148840"/>
            <a:ext cx="0" cy="164592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31343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313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33172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the file type by magic bytes (not extension) before accepting 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8096" y="2770632"/>
            <a:ext cx="0" cy="164592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935224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935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953512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forwards the validated document to the Python forensics/ML service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8096" y="3392424"/>
            <a:ext cx="0" cy="164592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557016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35570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runs three checks: structural forensics, ledger reconciliation, credit scoring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8096" y="4014216"/>
            <a:ext cx="0" cy="164592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178808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1788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197096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returns one structured result covering all three checks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8096" y="4636008"/>
            <a:ext cx="0" cy="164592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80060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4800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818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persists the result and computes the routing decision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68096" y="5257800"/>
            <a:ext cx="0" cy="164592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5422392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54223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44068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reviews the evidence and confirms the final decision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32004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59436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240280" y="896112"/>
            <a:ext cx="9281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&amp; RBAC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3" y="742493"/>
            <a:ext cx="938174" cy="93817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537192" y="384048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537192" y="3840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MARKS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40280" y="1737360"/>
            <a:ext cx="9281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JWT-based login issues a signed token on every successful sign-in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roles defined: Applicant and Loan Officer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route in the Express gateway enforces role-level authorization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token can never reach an Officer-only endpoint, and vice versa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" y="45720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5F8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4718304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separation is enforced at the gateway, not the frontend – so it cannot be bypassed by calling the API directly.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96112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&amp; Document Intake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69264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4077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737360"/>
            <a:ext cx="8686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application details and the supporting PDF are submitted together, in one form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type is validated by magic bytes (the file's actual signature), not by its extension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Password-protected PDFs are supported – a common format for real bank statements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passphrase is used only for that session's decryption; it is never persisted to disk, database, or logs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5F8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18304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magic bytes instead of the extension closes the loophole where a malicious file is disguised behind a fake .pdf name.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32004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59436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240280" y="896112"/>
            <a:ext cx="9281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&amp; Metadata Forensics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1737360"/>
            <a:ext cx="9281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inspects the PDF's internal structure directly – no rendering needed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/Producer and /Creator metadata tags against known editing-tool fingerprints (e.g. “Adobe Photoshop”)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unusually high font-family variance across a single page of a financial statement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deterministic – the only signal allowed to auto-trigger a fraud flag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5F8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18304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forger who edits a statement in Photoshop almost always leaves that tool's name inside the file's own metadata – a check no human reviewer thinks to make.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96112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Level Analysis (ELA)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69264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4077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737360"/>
            <a:ext cx="8686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Recompresses the document image at a fixed JPEG quality and measures the pixel-wise difference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a visual tamper heatmap shown to the officer – brighter regions indicate higher recompression error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only, never an auto-gate – a whole-image statistic risks false positives on ordinary clean scans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4663440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ELA(x,y) = S × |I(x,y) − J(I(x,y), Q)|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92,  S = 15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32004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59436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240280" y="896112"/>
            <a:ext cx="9281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Extraction &amp; Reconciliation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1737360"/>
            <a:ext cx="9281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PDFs: pdfplumber extracts the native text-based transaction table directly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statements: OpenCV grid detection + per-cell Tesseract OCR as a fallback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checked against the previous row using exact Decimal arithmetic – no floating-point drift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deterministic – same input always produces the same reconciliation result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4663440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Expected(i) = Balance(i−1) + Credit(i) − Debit(i)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 if |Balance(i) − Expected(i)| &gt; 0.01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96112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Credit Risk Scoring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69264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4077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737360"/>
            <a:ext cx="8686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model trained on the public “Give Me Some Credit” Kaggle dataset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income, debt-to-income ratio (DTI), and delinquency history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 probability of default, mapped onto a familiar 300–900 credit-score band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Achieves an AUC-ROC of 0.87 on the held-out test split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466344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AUC-ROC = 0.87   |   Credit Score = 900 − (P(default) × 600)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96112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Routing Engine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058400" y="594360"/>
            <a:ext cx="1097280" cy="10972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0074" y="726034"/>
            <a:ext cx="833933" cy="83393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627632"/>
            <a:ext cx="923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the forensics result, ledger consistency, and credit score into one of four outcomes, using the certainty-tiered logic from the Novel Idea.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10908792" cy="2286000"/>
        </p:xfrm>
        <a:graphic>
          <a:graphicData uri="http://schemas.openxmlformats.org/drawingml/2006/table">
            <a:tbl>
              <a:tblPr/>
              <a:tblGrid>
                <a:gridCol w="2468880"/>
                <a:gridCol w="2194560"/>
                <a:gridCol w="2377440"/>
                <a:gridCol w="3867912"/>
              </a:tblGrid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Forensics Flag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OK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 Score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39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REJECT_FRAUD_ALERT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C7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&gt;= 750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D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AUTO_APPROVE (recommended)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600–749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C7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600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39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4754880"/>
            <a:ext cx="109087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 (forensics, ledger) are the only signals allowed to decide the routing outright</a:t>
            </a:r>
            <a:endParaRPr lang="en-US" sz="1350" dirty="0"/>
          </a:p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credit score only matters once forensics and ledger checks are both clean</a:t>
            </a:r>
            <a:endParaRPr lang="en-US" sz="1350" dirty="0"/>
          </a:p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an AUTO_APPROVE outcome is a recommendation – it is finalized only by Module 8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32004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59436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240280" y="896112"/>
            <a:ext cx="9281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Officer Review &amp; Human-in-the-Loop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1737360"/>
            <a:ext cx="9281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console displays the full evidence set: ELA heatmap, PDF metadata flags, and the reconciled ledger table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AUTO_APPROVE is only ever a recommendation – it requires an explicit “Confirm &amp; Approve” click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silently auto-finalized; every approval is tied to a named, accountable officer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5F8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18304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a human as the final approver on every approval path is what makes the AUTO_APPROVE recommendation safe to offer at all.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96112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Logging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69264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4077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737360"/>
            <a:ext cx="8686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WORM-style (write-once-read-many) audit log – entries can be appended, never edited or deleted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automated check and every human decision is recorded as its own entry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entry carries a SHA-256 hash of the evidence it refers to, plus the officer's identity and a timestamp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an immutable, independently verifiable record of every decision the system ever made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5F8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18304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SHA-256 evidence hash means a disputed decision can later be proven to match the exact document and evidence it was based on.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30 Marks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rubric – this deck, section by section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424160" y="411480"/>
            <a:ext cx="822960" cy="82296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22915" y="510235"/>
            <a:ext cx="625450" cy="62545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783080"/>
          <a:ext cx="10360152" cy="4023360"/>
        </p:xfrm>
        <a:graphic>
          <a:graphicData uri="http://schemas.openxmlformats.org/drawingml/2006/table">
            <a:tbl>
              <a:tblPr/>
              <a:tblGrid>
                <a:gridCol w="822960"/>
                <a:gridCol w="807415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41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41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Rubric Section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41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Definition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Objectives and Scope of the Proposed 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 Idea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Design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 Methodology &amp; Modules Description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9A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9A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6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2026-09-19T04:38:51Z</dcterms:created>
  <dcterms:modified xsi:type="dcterms:W3CDTF">2026-09-19T04:38:51Z</dcterms:modified>
</cp:coreProperties>
</file>