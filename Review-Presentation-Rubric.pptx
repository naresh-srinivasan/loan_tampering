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502920"/>
            <a:ext cx="3200400" cy="384048"/>
          </a:xfrm>
          <a:prstGeom prst="roundRect">
            <a:avLst>
              <a:gd name="adj" fmla="val 19048"/>
            </a:avLst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98848" y="5029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PHASE I  –  FIRST REVIEW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32704" y="109728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207008"/>
            <a:ext cx="694944" cy="6949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2240280"/>
            <a:ext cx="103601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AI-DRIVEN LOAN UNDERWRITING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DOCUMENT FRAUD DETECTION SYSTEM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Naresh S  |  Roll No: 2436MCA0047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914400" y="5806440"/>
            <a:ext cx="10360152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5989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67224200080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062472" y="5897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Baskaran, Professor</a:t>
            </a:r>
            <a:endParaRPr lang="en-US" sz="12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CSE, CEG Campus, Anna University, Chennai - 25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Definition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manual, single-purpose loan underwriting no longer holds up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2042770"/>
            <a:ext cx="486461" cy="48646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Slow, manual review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visually eyeball bank statements &amp; salary slips line by line – slow, and it does not scale.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0288" y="1965960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2042770"/>
            <a:ext cx="486461" cy="48646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44568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Undetectable tampering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44568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or Photoshopped documents can pass manual review – humans can't spot pixel- or metadata-level edits.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74152" y="1737360"/>
            <a:ext cx="3566160" cy="2331720"/>
          </a:xfrm>
          <a:prstGeom prst="roundRect">
            <a:avLst>
              <a:gd name="adj" fmla="val 4706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48472" y="1965960"/>
            <a:ext cx="640080" cy="640080"/>
          </a:xfrm>
          <a:prstGeom prst="ellipse">
            <a:avLst/>
          </a:prstGeom>
          <a:solidFill>
            <a:srgbClr val="B3392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2042770"/>
            <a:ext cx="486461" cy="48646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02752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vs. scoring, not both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302752" y="32461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 do EITHER fraud detection OR credit scoring – rarely both, and rarely with a verifiable audit trail.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4340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68680" y="44988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 STATEMENT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868680" y="48006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has no reliable way to catch digitally edited financial documents, and there is no deterministic proof that an approval decision was ever safe.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of the Proposed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concrete, verifiable objectives driving the system design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7335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 document tampering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00253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 tampering via structural &amp; metadata forensics on the uploaded PDF.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3347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5694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financial consistency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9864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verify financial consistency through row-by-row ledger reconciliation.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74136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6557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credit risk with ML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79476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score credit risk using a trained XGBoost model.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70248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25696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36168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to a clear decision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69087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every application to AUTO_APPROVE / MANUAL_REVIEW / REJECT / REJECT_FRAUD_ALERT, with a human officer as final approver.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166360"/>
            <a:ext cx="10835640" cy="0"/>
          </a:xfrm>
          <a:prstGeom prst="line">
            <a:avLst/>
          </a:prstGeom>
          <a:noFill/>
          <a:ln w="12700">
            <a:solidFill>
              <a:srgbClr val="E3E9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25780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 a tamper-proof trail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558698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an immutable, tamper-proof audit trail of every automated and human decision.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2  –  SCOPE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Proposed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I explicitly covers – and what it deliberately leaves out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5F8FF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48256"/>
            <a:ext cx="521208" cy="5212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3080" y="20116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Scope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880360"/>
            <a:ext cx="4617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bank statements – both digital and scanned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roles: Applicant and Loan Officer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Single-user, local deployment for evaluation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architecture: web frontend, API gateway, forensics/ML service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91072" y="1691640"/>
            <a:ext cx="5349240" cy="3611880"/>
          </a:xfrm>
          <a:prstGeom prst="roundRect">
            <a:avLst>
              <a:gd name="adj" fmla="val 3038"/>
            </a:avLst>
          </a:prstGeom>
          <a:solidFill>
            <a:srgbClr val="F5F8FF"/>
          </a:solidFill>
          <a:ln/>
        </p:spPr>
      </p:sp>
      <p:sp>
        <p:nvSpPr>
          <p:cNvPr id="11" name="Shape 8"/>
          <p:cNvSpPr/>
          <p:nvPr/>
        </p:nvSpPr>
        <p:spPr>
          <a:xfrm>
            <a:off x="6611112" y="1965960"/>
            <a:ext cx="685800" cy="685800"/>
          </a:xfrm>
          <a:prstGeom prst="ellipse">
            <a:avLst/>
          </a:prstGeom>
          <a:solidFill>
            <a:srgbClr val="B3392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48256"/>
            <a:ext cx="521208" cy="5212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25512" y="20116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 of Scope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656832" y="2880360"/>
            <a:ext cx="4617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Production-scale, multi-tenant deployment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Multi-bank / multi-institution integration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Non-PDF document formats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underwriting outcome data – uses the public Kaggle “Give Me Some Credit” dataset instead</a:t>
            </a:r>
            <a:endParaRPr lang="en-US" sz="1350" dirty="0"/>
          </a:p>
          <a:p>
            <a:pPr marL="228600" indent="-228600">
              <a:spcAft>
                <a:spcPts val="20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scaling / message-queue infrastructure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columns scope the system to what a single-review evaluation needs to demonstrate – not a production rollout.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 Idea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Certainty-Tiered Decision Routing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fraud-detection tools rely purely on an ML image classifier to guess whether a document was edited – inherently probabilistic, and prone to false positives. This system instead separates checks by how certain they can ever be.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5349240" cy="3429000"/>
          </a:xfrm>
          <a:prstGeom prst="roundRect">
            <a:avLst>
              <a:gd name="adj" fmla="val 3200"/>
            </a:avLst>
          </a:prstGeom>
          <a:solidFill>
            <a:srgbClr val="F5F8FF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9718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3054096"/>
            <a:ext cx="521208" cy="5212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83080" y="3017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– allowed to auto-flag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4048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metadata: /Producer &amp; /Creator tags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Font-family consistency across the page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arithmetic (running balance check)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914400" y="5257800"/>
            <a:ext cx="4617720" cy="0"/>
          </a:xfrm>
          <a:prstGeom prst="line">
            <a:avLst/>
          </a:prstGeom>
          <a:noFill/>
          <a:ln w="12700">
            <a:solidFill>
              <a:srgbClr val="DCE3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5440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→ same output, every time – so it's trusted to decide.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91072" y="2697480"/>
            <a:ext cx="5349240" cy="3429000"/>
          </a:xfrm>
          <a:prstGeom prst="roundRect">
            <a:avLst>
              <a:gd name="adj" fmla="val 3200"/>
            </a:avLst>
          </a:prstGeom>
          <a:solidFill>
            <a:srgbClr val="F5F8FF"/>
          </a:solidFill>
          <a:ln/>
        </p:spPr>
      </p:sp>
      <p:sp>
        <p:nvSpPr>
          <p:cNvPr id="14" name="Shape 11"/>
          <p:cNvSpPr/>
          <p:nvPr/>
        </p:nvSpPr>
        <p:spPr>
          <a:xfrm>
            <a:off x="6611112" y="2971800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3054096"/>
            <a:ext cx="521208" cy="5212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25512" y="3017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Probabilistic – advisory only</a:t>
            </a:r>
            <a:endParaRPr lang="en-US" sz="1550" dirty="0"/>
          </a:p>
        </p:txBody>
      </p:sp>
      <p:sp>
        <p:nvSpPr>
          <p:cNvPr id="17" name="Text 13"/>
          <p:cNvSpPr txBox="1"/>
          <p:nvPr/>
        </p:nvSpPr>
        <p:spPr>
          <a:xfrm>
            <a:off x="6656832" y="384048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 (ELA) heatmap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credit score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treated as decisive on its own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656832" y="5257800"/>
            <a:ext cx="4617720" cy="0"/>
          </a:xfrm>
          <a:prstGeom prst="line">
            <a:avLst/>
          </a:prstGeom>
          <a:noFill/>
          <a:ln w="12700">
            <a:solidFill>
              <a:srgbClr val="DCE3F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56832" y="5440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officer as evidence – never auto-decisive.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Design – System Architecture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pipeline: concerns separated, each tier independently testable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1600200"/>
            <a:ext cx="941832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45920" y="169164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– Next.js 14 / React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9968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portal &amp; officer console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19456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+ upload form    •    Officer review workspace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rot="10800000">
            <a:off x="5852160" y="2615184"/>
            <a:ext cx="274320" cy="256032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926080"/>
            <a:ext cx="9418320" cy="960120"/>
          </a:xfrm>
          <a:prstGeom prst="roundRect">
            <a:avLst>
              <a:gd name="adj" fmla="val 9524"/>
            </a:avLst>
          </a:prstGeom>
          <a:solidFill>
            <a:srgbClr val="2B3A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45920" y="30175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– Node.js / Express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355848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persistence &amp; business rules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5204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&amp; role-based access    •    Magic-byte validation    •    SQLite persistence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5852160" y="3941064"/>
            <a:ext cx="274320" cy="256032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5" name="Shape 13"/>
          <p:cNvSpPr/>
          <p:nvPr/>
        </p:nvSpPr>
        <p:spPr>
          <a:xfrm>
            <a:off x="1371600" y="4251960"/>
            <a:ext cx="4572000" cy="1417320"/>
          </a:xfrm>
          <a:prstGeom prst="roundRect">
            <a:avLst>
              <a:gd name="adj" fmla="val 6452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572768" y="4343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Forensics &amp; ML Service – Python / FastAPI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8920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forensics + ELA</a:t>
            </a:r>
            <a:endParaRPr lang="en-US" sz="100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extraction &amp; reconciliation</a:t>
            </a:r>
            <a:endParaRPr lang="en-US" sz="100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credit scoring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251960"/>
            <a:ext cx="4572000" cy="1417320"/>
          </a:xfrm>
          <a:prstGeom prst="roundRect">
            <a:avLst>
              <a:gd name="adj" fmla="val 6452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19088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 – SQLite (5 tables)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19088" y="468172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applications · documents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▪"/>
            </a:pPr>
            <a:r>
              <a:rPr lang="en-US" sz="100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ledger_line_items · audit_logs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split this way: the gateway owns identity, authorization and persistence; the Python service owns pure computation (OCR, forensics, ML) – each independently developable and testable.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SECTION 4  –  DATA FLOW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Design – End-to-End Data Flow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application, from upload to officer confirmation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0992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uploads a loan application + supporting PDF document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" y="2148840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313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33172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the file type by magic bytes (not extension) before accepting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8096" y="2770632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3522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95351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forwards the validated document to the Python forensics/ML service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8096" y="3392424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5701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557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runs three checks: structural forensics, ledger reconciliation, credit scoring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8096" y="4014216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7880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78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19709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returns one structured result covering all three checks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" y="4636008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8006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818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persists the result and computes the routing decision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8096" y="5257800"/>
            <a:ext cx="0" cy="164592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422392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4223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440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reviews the evidence and confirms the final decision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RBAC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JWT-based login issues a signed token on every successful sign-in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roles defined: Applicant and Loan Officer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in the Express gateway enforces role-level authorization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token can never reach an Officer-only endpoint, and vice versa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separation is enforced at the gateway, not the frontend – so it cannot be bypassed by calling the API directly.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&amp; Document Intake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application details and the supporting PDF are submitted together, in one form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is validated by magic bytes (the file's actual signature), not by its extension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Password-protected PDFs are supported – a common format for real bank statements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passphrase is used only for that session's decryption; it is never persisted to disk, database, or logs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magic bytes instead of the extension closes the loophole where a malicious file is disguised behind a fake .pdf name.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&amp; Metadata Forensics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inspects the PDF's internal structure directly – no rendering needed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/Producer and /Creator metadata tags against known editing-tool fingerprints (e.g. “Adobe Photoshop”)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unusually high font-family variance across a single page of a financial statement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– the only signal allowed to auto-trigger a fraud flag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forger who edits a statement in Photoshop almost always leaves that tool's name inside the file's own metadata – a check no human reviewer thinks to make.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Level Analysis (ELA)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Recompresses the document image at a fixed JPEG quality and measures the pixel-wise difference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visual tamper heatmap shown to the officer – brighter regions indicate higher recompression error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only, never an auto-gate – a whole-image statistic risks false positives on ordinary clean scans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ELA(x,y) = S × |I(x,y) − J(I(x,y), Q)|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92,  S = 15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Extraction &amp; Reconciliation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PDFs: pdfplumber extracts the native text-based transaction table directly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statements: OpenCV grid detection + per-cell Tesseract OCR as a fallback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against the previous row using exact Decimal arithmetic – no floating-point drift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– same input always produces the same reconciliation result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Expected(i) = Balance(i−1) + Credit(i) − Debit(i)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if |Balance(i) − Expected(i)| &gt; 0.01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Risk Scoring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trained on the public “Give Me Some Credit” Kaggle dataset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income, debt-to-income ratio (DTI), and delinquency history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default, mapped onto a familiar 300–900 credit-score band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Achieves an AUC-ROC of 0.87 on the held-out test split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6634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AUC-ROC = 0.87   |   Credit Score = 900 − (P(default) × 600)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Routing Engine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058400" y="594360"/>
            <a:ext cx="1097280" cy="10972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726034"/>
            <a:ext cx="833933" cy="83393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627632"/>
            <a:ext cx="923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forensics result, ledger consistency, and credit score into one of four outcomes, using the certainty-tiered logic from the Novel Idea.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10908792" cy="228600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2377440"/>
                <a:gridCol w="3867912"/>
              </a:tblGrid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Forensics Flag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REJECT_FRAUD_ALERT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AUTO_APPROVE (recommended)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600–749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4754880"/>
            <a:ext cx="109087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(forensics, ledger) are the only signals allowed to decide the routing outright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credit score only matters once forensics and ledger checks are both clean</a:t>
            </a:r>
            <a:endParaRPr lang="en-US" sz="1350" dirty="0"/>
          </a:p>
          <a:p>
            <a:pPr marL="228600" indent="-2286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an AUTO_APPROVE outcome is a recommendation – it is finalized only by Module 8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32004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594360"/>
            <a:ext cx="928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40280" y="896112"/>
            <a:ext cx="928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Review &amp; Human-in-the-Loop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737360"/>
            <a:ext cx="9281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console displays the full evidence set: ELA heatmap, PDF metadata flags, and the reconciled ledger table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AUTO_APPROVE is only ever a recommendation – it requires an explicit “Confirm &amp; Approve” click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silently auto-finalized; every approval is tied to a named, accountable officer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 human as the final approver on every approval path is what makes the AUTO_APPROVE recommendation safe to offer at all.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METHODOLOGY &amp; MODULES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943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96112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Logging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692640" y="594360"/>
            <a:ext cx="1234440" cy="12344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0773" y="742493"/>
            <a:ext cx="938174" cy="9381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737360"/>
            <a:ext cx="8686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WORM-style (write-once-read-many) audit log – entries can be appended, never edited or deleted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automated check and every human decision is recorded as its own entry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carries a SHA-256 hash of the evidence it refers to, plus the officer's identity and a timestamp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an immutable, independently verifiable record of every decision the system ever made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720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5F8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18304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SHA-256 evidence hash means a disputed decision can later be proven to match the exact document and evidence it was based on.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24160" y="320040"/>
            <a:ext cx="822960" cy="82296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915" y="418795"/>
            <a:ext cx="625450" cy="6254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Krawetz, “A Picture's Worth… Digital Image Analysis and Forensics,” Hacker Factor Solutions,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Chen &amp; Guestrin, “XGBoost: A Scalable Tree Boosting System,” ACM SIGKDD, 2016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Reserve Bank of India, “Master Direction - NBFC Account Aggregator Directions,” RBI/DNBR/2016-17/45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PyMuPDF Contributors, PyMuPDF Documentation, 2024 - pymupdf.readthedocs.io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Smith, “An Overview of the Tesseract OCR Engine,” ICDAR,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Oracle Corp., “MySQL 8.0 Reference Manual,” 2024 - dev.mysql.com/doc/refman/8.0/en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“Give Me Some Credit” dataset, Kaggle - kaggle.com/c/GiveMeSomeCredit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FastAPI Documentation - fastapi.tiangolo.com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Next.js Documentation - nextjs.org/docs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4" name="Shape 2"/>
          <p:cNvSpPr/>
          <p:nvPr/>
        </p:nvSpPr>
        <p:spPr>
          <a:xfrm>
            <a:off x="5632704" y="137160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481328"/>
            <a:ext cx="694944" cy="694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5146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5204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718304" y="4343400"/>
            <a:ext cx="2743200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45262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Naresh S  |  Roll No: 2436MCA0047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– Automated 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2026-09-19T04:47:09Z</dcterms:created>
  <dcterms:modified xsi:type="dcterms:W3CDTF">2026-09-19T04:47:09Z</dcterms:modified>
</cp:coreProperties>
</file>