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114800" cy="4114800"/>
          </a:xfrm>
          <a:prstGeom prst="ellipse">
            <a:avLst/>
          </a:prstGeom>
          <a:solidFill>
            <a:srgbClr val="141B45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5120640"/>
            <a:ext cx="3291840" cy="3291840"/>
          </a:xfrm>
          <a:prstGeom prst="ellipse">
            <a:avLst/>
          </a:prstGeom>
          <a:solidFill>
            <a:srgbClr val="141B45"/>
          </a:solidFill>
          <a:ln/>
        </p:spPr>
      </p:sp>
      <p:sp>
        <p:nvSpPr>
          <p:cNvPr id="4" name="Shape 2"/>
          <p:cNvSpPr/>
          <p:nvPr/>
        </p:nvSpPr>
        <p:spPr>
          <a:xfrm>
            <a:off x="5632704" y="685800"/>
            <a:ext cx="914400" cy="9144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795528"/>
            <a:ext cx="694944" cy="694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1828800"/>
            <a:ext cx="103601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AI-DRIVEN LOAN UNDERWRITING</a:t>
            </a:r>
            <a:endParaRPr lang="en-US" sz="27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DOCUMENT FRAUD DETECTION SYSTEM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41605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Naresh S  |  Roll No: 2436MCA0047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914400" y="5806440"/>
            <a:ext cx="10360152" cy="0"/>
          </a:xfrm>
          <a:prstGeom prst="line">
            <a:avLst/>
          </a:prstGeom>
          <a:noFill/>
          <a:ln w="12700">
            <a:solidFill>
              <a:srgbClr val="3A469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5989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No: 67224200080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062472" y="5897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 Dr. R. Baskaran, Professor</a:t>
            </a:r>
            <a:endParaRPr lang="en-US" sz="12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CSE, CEG Campus, Anna University, Chennai - 25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with manual &amp; programmatic loan-document verification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Lenders must verify income &amp; financial conduct before sanctioning a loan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/ Account Aggregator rails exist, but consent friction and OTP failures cause heavy drop-off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document uploads (bank statements, payslips) remain the essential fallback channel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fallback is exactly what exposes lenders to tampering: edited balances, altered narrations, deleted EMI rows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cannot reliably catch micro-level font or compression artifacts, and does not scale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0" y="169164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5F8FF"/>
          </a:solidFill>
          <a:ln/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0" y="1801368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40-60%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25603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drop-off on Account Aggregator / OTP-based flows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0" y="333756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5F8FF"/>
          </a:solidFill>
          <a:ln/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0" y="3447288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10-15 / day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42062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 single credit officer can manually audit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0" y="4983480"/>
            <a:ext cx="4297680" cy="1417320"/>
          </a:xfrm>
          <a:prstGeom prst="roundRect">
            <a:avLst>
              <a:gd name="adj" fmla="val 7742"/>
            </a:avLst>
          </a:prstGeom>
          <a:solidFill>
            <a:srgbClr val="F5F8FF"/>
          </a:solidFill>
          <a:ln/>
          <a:effectLst>
            <a:outerShdw sx="100000" sy="100000" kx="0" ky="0" algn="bl" rotWithShape="0" blurRad="76200" dist="25400" dir="5400000">
              <a:srgbClr val="9AA7C7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315200" y="5093208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339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2-4 days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5852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 time for a manually underwritten loan file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Domain: Why (and Where) AI Is Needed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system - AI only where the problem is genuinely probabilistic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F5F8FF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7452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462" y="1962302"/>
            <a:ext cx="555955" cy="55595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9202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(no learning)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743200"/>
            <a:ext cx="4480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Level Analysis - fixed recompression formula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arithmetic reconciliation - exact decimal math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 always produces the same output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false-positive risk; fully explainable to auditors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09360" y="160020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F5F8FF"/>
          </a:solidFill>
          <a:ln/>
        </p:spPr>
      </p:sp>
      <p:sp>
        <p:nvSpPr>
          <p:cNvPr id="10" name="Shape 7"/>
          <p:cNvSpPr/>
          <p:nvPr/>
        </p:nvSpPr>
        <p:spPr>
          <a:xfrm>
            <a:off x="6629400" y="1874520"/>
            <a:ext cx="731520" cy="73152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182" y="1962302"/>
            <a:ext cx="555955" cy="55595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543800" y="19202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Learned Models (the actual "AI")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2743200"/>
            <a:ext cx="4480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OCR - reads scanned/photographed statements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- converts financial features into default probability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only where the answer is genuinely uncertain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once offline, applied consistently to every applicant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precision matters: an unexplainable “AI says reject” is not acceptable in a regulated lending context.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 this project builds 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5450" y="1768450"/>
            <a:ext cx="486461" cy="48646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645920"/>
            <a:ext cx="5120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Krawetz (2007) - Error Level Analysis technique for image forensics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&amp; Guestrin (2016) - XGBoost gradient-boosted trees for tabular data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Account Aggregator Directions (2016-17, upd. 2023) - open banking rails &amp; their real-world friction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docs (2024) - low-level PDF structural inspection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92240" y="1691640"/>
            <a:ext cx="640080" cy="64008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050" y="1768450"/>
            <a:ext cx="486461" cy="48646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60920" y="1645920"/>
            <a:ext cx="42976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(2007) - Tesseract OCR engine internals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review - fintech straight-through-processing for low-risk retail loans</a:t>
            </a:r>
            <a:endParaRPr lang="en-US" sz="1350" dirty="0"/>
          </a:p>
          <a:p>
            <a:pPr marL="228600" indent="-228600">
              <a:spcAft>
                <a:spcPts val="1600"/>
              </a:spcAft>
              <a:buSzPct val="100000"/>
              <a:buChar char="▪"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identified: no existing system combines image forensics + PDF structural inspection + ledger reconciliation in one applicant-facing pipeline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48640" y="5760720"/>
            <a:ext cx="11091672" cy="0"/>
          </a:xfrm>
          <a:prstGeom prst="line">
            <a:avLst/>
          </a:prstGeom>
          <a:noFill/>
          <a:ln w="12700">
            <a:solidFill>
              <a:srgbClr val="DCE3F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5897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reference above maps directly onto a specific module of this system - not general background reading.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pipeline, applicant to officer decision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371600" y="1417320"/>
            <a:ext cx="9418320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45920" y="1527048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- Next.js 14 / React / Tailwind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874520"/>
            <a:ext cx="886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portal &amp; officer console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08483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Split-screen document + heatmap viewer    •    Application dashboard &amp; queue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 rot="10800000">
            <a:off x="5852160" y="2487168"/>
            <a:ext cx="274320" cy="274320"/>
          </a:xfrm>
          <a:prstGeom prst="rtTriangle">
            <a:avLst/>
          </a:prstGeom>
          <a:solidFill>
            <a:srgbClr val="5B6B8C"/>
          </a:solidFill>
          <a:ln/>
        </p:spPr>
      </p:sp>
      <p:sp>
        <p:nvSpPr>
          <p:cNvPr id="9" name="Shape 7"/>
          <p:cNvSpPr/>
          <p:nvPr/>
        </p:nvSpPr>
        <p:spPr>
          <a:xfrm>
            <a:off x="1371600" y="2788920"/>
            <a:ext cx="9418320" cy="1051560"/>
          </a:xfrm>
          <a:prstGeom prst="roundRect">
            <a:avLst>
              <a:gd name="adj" fmla="val 8696"/>
            </a:avLst>
          </a:prstGeom>
          <a:solidFill>
            <a:srgbClr val="2B3A8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45920" y="2898648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Gateway - Node.js / Express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246120"/>
            <a:ext cx="886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validation &amp; orchestration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456432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&amp; RBAC    •    Magic-byte file validation    •    SQLite persistence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 rot="10800000">
            <a:off x="5852160" y="3858768"/>
            <a:ext cx="274320" cy="274320"/>
          </a:xfrm>
          <a:prstGeom prst="rtTriangle">
            <a:avLst/>
          </a:prstGeom>
          <a:solidFill>
            <a:srgbClr val="5B6B8C"/>
          </a:solidFill>
          <a:ln/>
        </p:spPr>
      </p:sp>
      <p:sp>
        <p:nvSpPr>
          <p:cNvPr id="14" name="Shape 12"/>
          <p:cNvSpPr/>
          <p:nvPr/>
        </p:nvSpPr>
        <p:spPr>
          <a:xfrm>
            <a:off x="1371600" y="4160520"/>
            <a:ext cx="4572000" cy="1737360"/>
          </a:xfrm>
          <a:prstGeom prst="roundRect">
            <a:avLst>
              <a:gd name="adj" fmla="val 5263"/>
            </a:avLst>
          </a:prstGeom>
          <a:solidFill>
            <a:srgbClr val="C9A22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600200" y="4251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&amp; Forensics Microservice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4572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FastAPI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892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&amp; font forensics</a:t>
            </a:r>
            <a:endParaRPr lang="en-US" sz="105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Level Analysis</a:t>
            </a:r>
            <a:endParaRPr lang="en-US" sz="105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extraction &amp; reconciliation</a:t>
            </a:r>
            <a:endParaRPr lang="en-US" sz="105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risk scoring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4160520"/>
            <a:ext cx="4572000" cy="1737360"/>
          </a:xfrm>
          <a:prstGeom prst="roundRect">
            <a:avLst>
              <a:gd name="adj" fmla="val 5263"/>
            </a:avLst>
          </a:prstGeom>
          <a:solidFill>
            <a:srgbClr val="CADCF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46520" y="4251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Persistence Layer - SQLite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66344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05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05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05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ledger_line_items</a:t>
            </a:r>
            <a:endParaRPr lang="en-US" sz="1050" dirty="0"/>
          </a:p>
          <a:p>
            <a:pPr marL="228600" indent="-228600">
              <a:spcAft>
                <a:spcPts val="200"/>
              </a:spcAft>
              <a:buSzPct val="100000"/>
              <a:buChar char="▪"/>
            </a:pPr>
            <a:r>
              <a:rPr lang="en-US" sz="1050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audit_logs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502920"/>
            <a:ext cx="9281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822960"/>
            <a:ext cx="9281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Secure Ingestion &amp; Authentication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713232"/>
            <a:ext cx="1042416" cy="1042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1691640"/>
            <a:ext cx="9281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 with two roles: Applicant and Loan Officer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enforced on every API route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Magic-byte validation on upload - inspects file signature (%PDF-, JPEG, PNG), not the extension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held in memory until validated, before ever touching disk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combined submission: loan details + document attached together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89204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50292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21808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Fraudsters often disguise a malicious file behind a fake .pdf extension - checking the actual byte signature closes that loophole before a single line of the document is parsed.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 Structural &amp; Metadata Forensics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692640" y="54864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2" y="713232"/>
            <a:ext cx="1042416" cy="1042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691640"/>
            <a:ext cx="8686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the PDF's internal structure directly via PyMuPDF - no rendering needed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/Producer &amp; /Creator tags against known editing tools (Photoshop, Canva, iLovePDF, GIMP...)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unusually high font-family variance across a short financial statement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 creation/modification timestamp mismatch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fully deterministic signal that auto-triggers REJECT_FRAUD_ALERT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89204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50292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21808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forger who edits a statement in Photoshop almost always leaves that tool's name inside the file's own metadata - a check no human reviewer thinks to look for.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502920"/>
            <a:ext cx="9281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822960"/>
            <a:ext cx="9281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Level Analysis (ELA)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713232"/>
            <a:ext cx="1042416" cy="1042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1691640"/>
            <a:ext cx="9281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Recompresses the document image at a fixed JPEG quality and measures the pixel-wise difference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a visual tamper heatmap - brighter regions indicate higher recompression error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as supporting evidence for the human reviewer, not an automatic fraud gate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whole-image statistic can't separate a genuine splice from ordinary text-edge noise - a documented limitation of ELA itself)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89204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49834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ELA(x,y) = S x |I(x,y) - J(I(x,y), Q)|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92,  S = 15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Table Extraction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692640" y="54864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2" y="713232"/>
            <a:ext cx="1042416" cy="1042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691640"/>
            <a:ext cx="8686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PDFs: pdfplumber extracts the native text-based table directly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statements: OpenCV grid detection + per-cell Tesseract OCR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cells in isolation resolves Credit vs. Debit ambiguity that plain left-to-right parsing cannot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password-protected PDFs - common for real bank statements - via a one-time, non-persisted passphrase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table can be extracted, the system flags it explicitly instead of assuming the ledger is clean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89204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50292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21808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fraud-detection demos only work on the exact file they were built for - this pipeline explicitly tells the officer when it cannot read a document, rather than silently guessing.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502920"/>
            <a:ext cx="9281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822960"/>
            <a:ext cx="9281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Ledger Reconciliation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713232"/>
            <a:ext cx="1042416" cy="1042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1691640"/>
            <a:ext cx="9281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checked against the previous row using exact decimal arithmetic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the most common fraud pattern: editing one balance without recomputing every downstream row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cascades forward and is immediately visible, row by row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deterministic - no training, no tuning, same input always gives the same output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89204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49834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Expected_Balance(i) = Balance(i-1) + Credit(i) - Debit(i)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 if | Balance(i) - Expected_Balance(i) | &gt; 0.01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Metrics &amp; Credit Risk Scoring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692640" y="54864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2" y="713232"/>
            <a:ext cx="1042416" cy="1042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691640"/>
            <a:ext cx="86868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Monthly Balance and Debt-to-Income computed from the verified ledger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model trained on the "Give Me Some Credit" dataset predicts probability of default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is mapped onto a familiar 300-900 credit score band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band: LOW (&gt;=750)  ·  MEDIUM (600-749)  ·  HIGH (&lt;600)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89204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49834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 = (1/N) x Σ Daily Balance(k)      DTI = Σ Monthly Debt / Verified Gross Inflows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Credit Score = 900 - (P_default x 600)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Tri-State Decision Routing &amp; Human-in-the-Loop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058400" y="502920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9101" y="623621"/>
            <a:ext cx="764438" cy="764438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237744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377440"/>
                <a:gridCol w="3776472"/>
              </a:tblGrid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Tamper Flag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OK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 Score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39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REJECT_FRAUD_ALERT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C7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&gt;= 750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D7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AUTO_APPROVE (recommended)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600-749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9C7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600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39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" y="4251960"/>
            <a:ext cx="10908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an AUTO_APPROVE recommendation does not silently finalize a loan - an officer confirms it with one click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fraud / hard-reject verdict finalizes without a human - there is no approval action to protect there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every approval accountable to a named officer while cutting review time for the clean, unambiguous cases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40280" y="502920"/>
            <a:ext cx="9281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240280" y="822960"/>
            <a:ext cx="9281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Officer Review Workspace &amp; Audit Trail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713232"/>
            <a:ext cx="1042416" cy="1042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1691640"/>
            <a:ext cx="9281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Split-screen workspace: original document side-by-side with the ELA heatmap and the ledger table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queue sidebar - officer moves through applications without returning to a separate list page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WORM-style audit log: every automated analysis and human decision recorded, append-only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▪"/>
            </a:pPr>
            <a:r>
              <a:rPr lang="en-US" sz="15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entry carries a SHA-256 evidence hash, the reviewing officer's identity, and a timestamp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89204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F5F8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502920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21808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approval is traceable to a specific officer and evidence hash - essential for a lending decision that may later be audited or disputed.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Metrics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system's own outputs are checked for correctness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856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AUC-ROC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held-out 20% test split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389120" y="1856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0.01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6517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tolerance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30175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Balance - Expected | threshold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138160" y="1856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10s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6517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SLA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30175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forensics + ledger + scoring per document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88620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405079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300-900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846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score bounds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2120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clipped output range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89120" y="388620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89120" y="405079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35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846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tamper_score threshold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2120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std_error / mean_error x 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38160" y="388620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F5F8FF"/>
          </a:solidFill>
          <a:ln/>
          <a:effectLst>
            <a:outerShdw sx="100000" sy="100000" kx="0" ky="0" algn="bl" rotWithShape="0" blurRad="63500" dist="25400" dir="5400000">
              <a:srgbClr val="9AA7C7">
                <a:alpha val="3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138160" y="405079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846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test outcomes correct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52120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/ tampered / fraud-fingerprinted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24160" y="320040"/>
            <a:ext cx="822960" cy="82296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22915" y="418795"/>
            <a:ext cx="625450" cy="6254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Krawetz, “A Picture's Worth… Digital Image Analysis and Forensics,” Hacker Factor Solutions, 2007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Chen &amp; Guestrin, “XGBoost: A Scalable Tree Boosting System,” ACM SIGKDD, 2016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Reserve Bank of India, “Master Direction - NBFC Account Aggregator Directions,” RBI/DNBR/2016-17/45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PyMuPDF Contributors, PyMuPDF Documentation, 2024 - pymupdf.readthedocs.io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Smith, “An Overview of the Tesseract OCR Engine,” ICDAR, 2007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Oracle Corp., “MySQL 8.0 Reference Manual,” 2024 - dev.mysql.com/doc/refman/8.0/en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“Give Me Some Credit” dataset, Kaggle - kaggle.com/c/GiveMeSomeCredit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FastAPI Documentation - fastapi.tiangolo.com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Next.js Documentation - nextjs.org/docs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Loan Underwriting &amp; Document Fraud Detection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2026-09-18T16:56:44Z</dcterms:created>
  <dcterms:modified xsi:type="dcterms:W3CDTF">2026-09-18T16:56:44Z</dcterms:modified>
</cp:coreProperties>
</file>